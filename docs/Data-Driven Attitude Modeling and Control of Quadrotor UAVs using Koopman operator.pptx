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276DB-1352-48F7-8607-9CD8F8416D6D}" v="3" dt="2026-08-19T02:54:23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PALLY CHARAN KUMAR REDDY" userId="11455137d8a8f19c" providerId="LiveId" clId="{D412DB1F-D518-415E-84D7-DA5ABF10D3A9}"/>
    <pc:docChg chg="undo custSel modSld">
      <pc:chgData name="AREPALLY CHARAN KUMAR REDDY" userId="11455137d8a8f19c" providerId="LiveId" clId="{D412DB1F-D518-415E-84D7-DA5ABF10D3A9}" dt="2026-08-19T03:12:03.260" v="229" actId="1076"/>
      <pc:docMkLst>
        <pc:docMk/>
      </pc:docMkLst>
      <pc:sldChg chg="modSp mod">
        <pc:chgData name="AREPALLY CHARAN KUMAR REDDY" userId="11455137d8a8f19c" providerId="LiveId" clId="{D412DB1F-D518-415E-84D7-DA5ABF10D3A9}" dt="2026-08-18T18:36:46.246" v="7" actId="20577"/>
        <pc:sldMkLst>
          <pc:docMk/>
          <pc:sldMk cId="3182266466" sldId="256"/>
        </pc:sldMkLst>
        <pc:spChg chg="mod">
          <ac:chgData name="AREPALLY CHARAN KUMAR REDDY" userId="11455137d8a8f19c" providerId="LiveId" clId="{D412DB1F-D518-415E-84D7-DA5ABF10D3A9}" dt="2026-08-18T18:36:23.418" v="5" actId="313"/>
          <ac:spMkLst>
            <pc:docMk/>
            <pc:sldMk cId="3182266466" sldId="256"/>
            <ac:spMk id="2" creationId="{AB3B20C1-70A8-B4BC-F8DC-39919A3DC64F}"/>
          </ac:spMkLst>
        </pc:spChg>
        <pc:spChg chg="mod">
          <ac:chgData name="AREPALLY CHARAN KUMAR REDDY" userId="11455137d8a8f19c" providerId="LiveId" clId="{D412DB1F-D518-415E-84D7-DA5ABF10D3A9}" dt="2026-08-18T18:36:46.246" v="7" actId="20577"/>
          <ac:spMkLst>
            <pc:docMk/>
            <pc:sldMk cId="3182266466" sldId="256"/>
            <ac:spMk id="6" creationId="{DB34E6DB-A1E6-35D8-222C-218A0775C73F}"/>
          </ac:spMkLst>
        </pc:spChg>
      </pc:sldChg>
      <pc:sldChg chg="addSp delSp modSp mod">
        <pc:chgData name="AREPALLY CHARAN KUMAR REDDY" userId="11455137d8a8f19c" providerId="LiveId" clId="{D412DB1F-D518-415E-84D7-DA5ABF10D3A9}" dt="2026-08-19T02:56:13.334" v="141" actId="404"/>
        <pc:sldMkLst>
          <pc:docMk/>
          <pc:sldMk cId="3499261696" sldId="268"/>
        </pc:sldMkLst>
        <pc:spChg chg="mod">
          <ac:chgData name="AREPALLY CHARAN KUMAR REDDY" userId="11455137d8a8f19c" providerId="LiveId" clId="{D412DB1F-D518-415E-84D7-DA5ABF10D3A9}" dt="2026-08-19T02:54:54.151" v="72" actId="1076"/>
          <ac:spMkLst>
            <pc:docMk/>
            <pc:sldMk cId="3499261696" sldId="268"/>
            <ac:spMk id="6" creationId="{83CEE31F-1EB9-5238-DCC1-CDC0038AAAF6}"/>
          </ac:spMkLst>
        </pc:spChg>
        <pc:spChg chg="mod">
          <ac:chgData name="AREPALLY CHARAN KUMAR REDDY" userId="11455137d8a8f19c" providerId="LiveId" clId="{D412DB1F-D518-415E-84D7-DA5ABF10D3A9}" dt="2026-08-19T02:56:13.334" v="141" actId="404"/>
          <ac:spMkLst>
            <pc:docMk/>
            <pc:sldMk cId="3499261696" sldId="268"/>
            <ac:spMk id="9" creationId="{E221635A-A1A3-8D1F-0A4F-E3CE4212ED15}"/>
          </ac:spMkLst>
        </pc:spChg>
        <pc:picChg chg="del">
          <ac:chgData name="AREPALLY CHARAN KUMAR REDDY" userId="11455137d8a8f19c" providerId="LiveId" clId="{D412DB1F-D518-415E-84D7-DA5ABF10D3A9}" dt="2026-08-19T02:51:59.110" v="8" actId="478"/>
          <ac:picMkLst>
            <pc:docMk/>
            <pc:sldMk cId="3499261696" sldId="268"/>
            <ac:picMk id="4" creationId="{7B29A0CE-7FDE-4428-BBE2-BC972F16CEBA}"/>
          </ac:picMkLst>
        </pc:picChg>
        <pc:picChg chg="add mod">
          <ac:chgData name="AREPALLY CHARAN KUMAR REDDY" userId="11455137d8a8f19c" providerId="LiveId" clId="{D412DB1F-D518-415E-84D7-DA5ABF10D3A9}" dt="2026-08-19T02:52:11.331" v="14" actId="1076"/>
          <ac:picMkLst>
            <pc:docMk/>
            <pc:sldMk cId="3499261696" sldId="268"/>
            <ac:picMk id="5" creationId="{695C7C54-31EE-0E1C-EE34-7EA0DBF71F58}"/>
          </ac:picMkLst>
        </pc:picChg>
        <pc:picChg chg="del">
          <ac:chgData name="AREPALLY CHARAN KUMAR REDDY" userId="11455137d8a8f19c" providerId="LiveId" clId="{D412DB1F-D518-415E-84D7-DA5ABF10D3A9}" dt="2026-08-19T02:55:06.626" v="73" actId="478"/>
          <ac:picMkLst>
            <pc:docMk/>
            <pc:sldMk cId="3499261696" sldId="268"/>
            <ac:picMk id="8" creationId="{365B1CD8-D833-B2CE-0CBB-17CF0541C49F}"/>
          </ac:picMkLst>
        </pc:picChg>
        <pc:picChg chg="add mod">
          <ac:chgData name="AREPALLY CHARAN KUMAR REDDY" userId="11455137d8a8f19c" providerId="LiveId" clId="{D412DB1F-D518-415E-84D7-DA5ABF10D3A9}" dt="2026-08-19T02:55:21.991" v="80" actId="1076"/>
          <ac:picMkLst>
            <pc:docMk/>
            <pc:sldMk cId="3499261696" sldId="268"/>
            <ac:picMk id="10" creationId="{20B7A60B-857A-A7A2-F124-80B93FAD3388}"/>
          </ac:picMkLst>
        </pc:picChg>
      </pc:sldChg>
      <pc:sldChg chg="addSp delSp modSp mod">
        <pc:chgData name="AREPALLY CHARAN KUMAR REDDY" userId="11455137d8a8f19c" providerId="LiveId" clId="{D412DB1F-D518-415E-84D7-DA5ABF10D3A9}" dt="2026-08-19T03:12:03.260" v="229" actId="1076"/>
        <pc:sldMkLst>
          <pc:docMk/>
          <pc:sldMk cId="3979592486" sldId="269"/>
        </pc:sldMkLst>
        <pc:spChg chg="mod">
          <ac:chgData name="AREPALLY CHARAN KUMAR REDDY" userId="11455137d8a8f19c" providerId="LiveId" clId="{D412DB1F-D518-415E-84D7-DA5ABF10D3A9}" dt="2026-08-19T03:12:03.260" v="229" actId="1076"/>
          <ac:spMkLst>
            <pc:docMk/>
            <pc:sldMk cId="3979592486" sldId="269"/>
            <ac:spMk id="4" creationId="{1A984F56-231A-033C-68CA-D87C235BDE9C}"/>
          </ac:spMkLst>
        </pc:spChg>
        <pc:spChg chg="del">
          <ac:chgData name="AREPALLY CHARAN KUMAR REDDY" userId="11455137d8a8f19c" providerId="LiveId" clId="{D412DB1F-D518-415E-84D7-DA5ABF10D3A9}" dt="2026-08-19T02:57:05.468" v="149" actId="478"/>
          <ac:spMkLst>
            <pc:docMk/>
            <pc:sldMk cId="3979592486" sldId="269"/>
            <ac:spMk id="7" creationId="{83C2A48F-3B5A-7141-A8F8-71FD2C30A7F0}"/>
          </ac:spMkLst>
        </pc:spChg>
        <pc:picChg chg="del">
          <ac:chgData name="AREPALLY CHARAN KUMAR REDDY" userId="11455137d8a8f19c" providerId="LiveId" clId="{D412DB1F-D518-415E-84D7-DA5ABF10D3A9}" dt="2026-08-19T02:56:36.994" v="142" actId="478"/>
          <ac:picMkLst>
            <pc:docMk/>
            <pc:sldMk cId="3979592486" sldId="269"/>
            <ac:picMk id="3" creationId="{9DEDF9A9-82D1-D5EA-E112-35F62C62214A}"/>
          </ac:picMkLst>
        </pc:picChg>
        <pc:picChg chg="add mod">
          <ac:chgData name="AREPALLY CHARAN KUMAR REDDY" userId="11455137d8a8f19c" providerId="LiveId" clId="{D412DB1F-D518-415E-84D7-DA5ABF10D3A9}" dt="2026-08-19T03:12:00.317" v="228" actId="1076"/>
          <ac:picMkLst>
            <pc:docMk/>
            <pc:sldMk cId="3979592486" sldId="269"/>
            <ac:picMk id="5" creationId="{3A405F98-7F64-EBDA-0BC1-B0DF188D5B3C}"/>
          </ac:picMkLst>
        </pc:picChg>
        <pc:picChg chg="del">
          <ac:chgData name="AREPALLY CHARAN KUMAR REDDY" userId="11455137d8a8f19c" providerId="LiveId" clId="{D412DB1F-D518-415E-84D7-DA5ABF10D3A9}" dt="2026-08-19T02:56:39.912" v="145" actId="478"/>
          <ac:picMkLst>
            <pc:docMk/>
            <pc:sldMk cId="3979592486" sldId="269"/>
            <ac:picMk id="6" creationId="{9D68F0BF-741F-910F-8D19-D51AA35033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20C1-70A8-B4BC-F8DC-39919A3DC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81" y="1120245"/>
            <a:ext cx="11522319" cy="202756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Data-Driven Attitude Modeling and Control of Quadrotor UAV’s using Koopman Operator</a:t>
            </a:r>
          </a:p>
        </p:txBody>
      </p:sp>
      <p:pic>
        <p:nvPicPr>
          <p:cNvPr id="5" name="Picture 4" descr="Amrita Vishwa Vidyapeetham Logo PNG Vector (SVG) Free Download">
            <a:extLst>
              <a:ext uri="{FF2B5EF4-FFF2-40B4-BE49-F238E27FC236}">
                <a16:creationId xmlns:a16="http://schemas.microsoft.com/office/drawing/2014/main" id="{A0385742-4423-92E7-BD5D-470515E9A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26" y="26796"/>
            <a:ext cx="4923874" cy="10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34E6DB-A1E6-35D8-222C-218A0775C73F}"/>
              </a:ext>
            </a:extLst>
          </p:cNvPr>
          <p:cNvSpPr txBox="1"/>
          <p:nvPr/>
        </p:nvSpPr>
        <p:spPr>
          <a:xfrm>
            <a:off x="1494503" y="3185651"/>
            <a:ext cx="96159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By</a:t>
            </a:r>
          </a:p>
          <a:p>
            <a:endParaRPr lang="en-US" sz="2800" b="1" u="sng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1. Arepalle Charan Kumar Reddy (CB.SC.U4AIE24207)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040D8-A47D-7E8E-A3F5-51DDD331DE63}"/>
              </a:ext>
            </a:extLst>
          </p:cNvPr>
          <p:cNvSpPr txBox="1"/>
          <p:nvPr/>
        </p:nvSpPr>
        <p:spPr>
          <a:xfrm>
            <a:off x="0" y="563806"/>
            <a:ext cx="8770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  <a:t>22AIE448</a:t>
            </a:r>
            <a:b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</a:br>
            <a: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  <a:t>Introduction to Drones</a:t>
            </a:r>
          </a:p>
        </p:txBody>
      </p:sp>
    </p:spTree>
    <p:extLst>
      <p:ext uri="{BB962C8B-B14F-4D97-AF65-F5344CB8AC3E}">
        <p14:creationId xmlns:p14="http://schemas.microsoft.com/office/powerpoint/2010/main" val="318226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D9A9-3C18-51D5-403C-A868F3D6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8BE1F-ACDD-A084-60F2-7BE5A6C678D0}"/>
              </a:ext>
            </a:extLst>
          </p:cNvPr>
          <p:cNvSpPr txBox="1"/>
          <p:nvPr/>
        </p:nvSpPr>
        <p:spPr>
          <a:xfrm>
            <a:off x="152018" y="1833322"/>
            <a:ext cx="11877368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Quadrotor attitude dynamics are nonlinear and strongly coupled, making accurate modeling difficult.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Model-based approaches require simplifying assumptions that can reduce the accuracy of the real-system model.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Data-driven approaches require suitable training data and may result in black-box models, while ensuring system stability remains challenging.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Linear control approaches may neglect important system dynamics, while MPC can involve high online computational cost. </a:t>
            </a:r>
          </a:p>
          <a:p>
            <a:pPr lvl="0"/>
            <a:endParaRPr lang="en-IN" sz="23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300" dirty="0"/>
              <a:t>Therefore, an accurate, data-driven, computationally efficient, and control-oriented representation of nonlinear quadrotor attitude dynamics is required.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76591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00FF-2981-D7A9-140A-0B2C6286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C92B8-D49E-40E3-534A-8E89DEDEC2B5}"/>
              </a:ext>
            </a:extLst>
          </p:cNvPr>
          <p:cNvSpPr txBox="1"/>
          <p:nvPr/>
        </p:nvSpPr>
        <p:spPr>
          <a:xfrm>
            <a:off x="314250" y="1816313"/>
            <a:ext cx="1155290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Develop a data-driven attitude model for quadrotor UAVs using Koopman operator theory.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Transform the nonlinear attitude dynamics into a high-dimensional linear model.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Design an LQR controller for stable and accurate attitude tracking.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Validate the model’s prediction capability using measured quadrotor data.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dirty="0"/>
              <a:t>Evaluate the control performance against a PID controller.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5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500" b="1" dirty="0"/>
              <a:t>Model the nonlinear attitude dynamics from data and use the resulting linear representation for effective and stable attitude control.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25317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DE0B-FEEF-3B2A-9EAA-A5C494E7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39AEC-586B-6F97-A09D-38280B356E26}"/>
              </a:ext>
            </a:extLst>
          </p:cNvPr>
          <p:cNvSpPr txBox="1"/>
          <p:nvPr/>
        </p:nvSpPr>
        <p:spPr>
          <a:xfrm>
            <a:off x="98323" y="1881549"/>
            <a:ext cx="12093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1. Formulation of Nonlinear Quadrotor Attitude Dynamics (Newton Euler Method)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79EBA-4BC4-3B18-D239-E6C8E4F6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1"/>
          <a:stretch>
            <a:fillRect/>
          </a:stretch>
        </p:blipFill>
        <p:spPr>
          <a:xfrm>
            <a:off x="1288025" y="2434106"/>
            <a:ext cx="4257369" cy="431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5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CD969-D284-31D3-E582-733EF1398E40}"/>
              </a:ext>
            </a:extLst>
          </p:cNvPr>
          <p:cNvSpPr txBox="1"/>
          <p:nvPr/>
        </p:nvSpPr>
        <p:spPr>
          <a:xfrm>
            <a:off x="117987" y="560439"/>
            <a:ext cx="1066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2. Nonlinear Attitude Dynamics and Koopman Representation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1E3C4-CDF2-71D1-A925-4D220750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93" y="943445"/>
            <a:ext cx="4706559" cy="58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005A9F-2DEB-E933-5194-A15DF2FE7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62" y="1245681"/>
            <a:ext cx="8657606" cy="5392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3FDEB-28FF-35A7-4A70-9547A1D8FC2A}"/>
              </a:ext>
            </a:extLst>
          </p:cNvPr>
          <p:cNvSpPr txBox="1"/>
          <p:nvPr/>
        </p:nvSpPr>
        <p:spPr>
          <a:xfrm>
            <a:off x="304799" y="639097"/>
            <a:ext cx="675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3. Koopman Lift Map and Vectorization</a:t>
            </a:r>
          </a:p>
        </p:txBody>
      </p:sp>
    </p:spTree>
    <p:extLst>
      <p:ext uri="{BB962C8B-B14F-4D97-AF65-F5344CB8AC3E}">
        <p14:creationId xmlns:p14="http://schemas.microsoft.com/office/powerpoint/2010/main" val="275147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82D56-E47B-AF81-B087-E5B7C23B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9" y="977199"/>
            <a:ext cx="5296359" cy="5768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298FF4-9EC0-9EFF-7F56-B0BC31E44A6E}"/>
              </a:ext>
            </a:extLst>
          </p:cNvPr>
          <p:cNvSpPr txBox="1"/>
          <p:nvPr/>
        </p:nvSpPr>
        <p:spPr>
          <a:xfrm>
            <a:off x="147484" y="515534"/>
            <a:ext cx="8780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4. Finite-Dimensional Koopman Model and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25901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E366A-0276-41B5-A185-77528FE4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55" y="938911"/>
            <a:ext cx="6284277" cy="5726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74137B-1FBF-285E-20F1-F1B9812D814B}"/>
              </a:ext>
            </a:extLst>
          </p:cNvPr>
          <p:cNvSpPr txBox="1"/>
          <p:nvPr/>
        </p:nvSpPr>
        <p:spPr>
          <a:xfrm>
            <a:off x="167148" y="477246"/>
            <a:ext cx="869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5. EDMD Data Matrices and Least-Squares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32088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FF858-8FDA-5400-AEFA-281A92C6E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99" y="1217434"/>
            <a:ext cx="6911514" cy="54661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03C916-CA02-DF4C-8CB7-CA2767D1B356}"/>
              </a:ext>
            </a:extLst>
          </p:cNvPr>
          <p:cNvSpPr txBox="1"/>
          <p:nvPr/>
        </p:nvSpPr>
        <p:spPr>
          <a:xfrm>
            <a:off x="285699" y="678426"/>
            <a:ext cx="683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6. </a:t>
            </a:r>
            <a:r>
              <a:rPr lang="en-IN" sz="2400" b="1" dirty="0">
                <a:solidFill>
                  <a:schemeClr val="accent2"/>
                </a:solidFill>
              </a:rPr>
              <a:t>Koopman Matrix Estimation</a:t>
            </a:r>
          </a:p>
        </p:txBody>
      </p:sp>
    </p:spTree>
    <p:extLst>
      <p:ext uri="{BB962C8B-B14F-4D97-AF65-F5344CB8AC3E}">
        <p14:creationId xmlns:p14="http://schemas.microsoft.com/office/powerpoint/2010/main" val="284389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21D58-E3A9-AA12-5A61-CD2C5798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15" y="1295107"/>
            <a:ext cx="7427537" cy="5047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9A6723-7066-59C4-B23D-7AD4E398AFB0}"/>
              </a:ext>
            </a:extLst>
          </p:cNvPr>
          <p:cNvSpPr txBox="1"/>
          <p:nvPr/>
        </p:nvSpPr>
        <p:spPr>
          <a:xfrm>
            <a:off x="330115" y="609601"/>
            <a:ext cx="5358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7. Koopman-Based LQR Controller</a:t>
            </a:r>
          </a:p>
        </p:txBody>
      </p:sp>
    </p:spTree>
    <p:extLst>
      <p:ext uri="{BB962C8B-B14F-4D97-AF65-F5344CB8AC3E}">
        <p14:creationId xmlns:p14="http://schemas.microsoft.com/office/powerpoint/2010/main" val="3027876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4FEC04-0149-8804-6460-2FDF37DED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7" y="1310989"/>
            <a:ext cx="9891009" cy="4839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5AF6AE-BBBC-DCD8-79A2-9B1F1E215289}"/>
              </a:ext>
            </a:extLst>
          </p:cNvPr>
          <p:cNvSpPr txBox="1"/>
          <p:nvPr/>
        </p:nvSpPr>
        <p:spPr>
          <a:xfrm>
            <a:off x="314632" y="707922"/>
            <a:ext cx="7167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8. </a:t>
            </a:r>
            <a:r>
              <a:rPr lang="en-IN" sz="2400" b="1" dirty="0" err="1">
                <a:solidFill>
                  <a:schemeClr val="accent2"/>
                </a:solidFill>
              </a:rPr>
              <a:t>Riccati</a:t>
            </a:r>
            <a:r>
              <a:rPr lang="en-IN" sz="2400" b="1" dirty="0">
                <a:solidFill>
                  <a:schemeClr val="accent2"/>
                </a:solidFill>
              </a:rPr>
              <a:t> Equation and Optimal Control Gain</a:t>
            </a:r>
          </a:p>
        </p:txBody>
      </p:sp>
    </p:spTree>
    <p:extLst>
      <p:ext uri="{BB962C8B-B14F-4D97-AF65-F5344CB8AC3E}">
        <p14:creationId xmlns:p14="http://schemas.microsoft.com/office/powerpoint/2010/main" val="111378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65CC-8C09-B682-55B4-CC39126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EE31F-1EB9-5238-DCC1-CDC0038AAAF6}"/>
              </a:ext>
            </a:extLst>
          </p:cNvPr>
          <p:cNvSpPr txBox="1"/>
          <p:nvPr/>
        </p:nvSpPr>
        <p:spPr>
          <a:xfrm>
            <a:off x="249065" y="6385191"/>
            <a:ext cx="6087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Attitude prediction under the </a:t>
            </a:r>
            <a:r>
              <a:rPr lang="en-IN" sz="2000" b="1" dirty="0" err="1">
                <a:solidFill>
                  <a:schemeClr val="accent2"/>
                </a:solidFill>
              </a:rPr>
              <a:t>koopman</a:t>
            </a:r>
            <a:r>
              <a:rPr lang="en-IN" sz="2000" b="1" dirty="0">
                <a:solidFill>
                  <a:schemeClr val="accent2"/>
                </a:solidFill>
              </a:rPr>
              <a:t>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1635A-A1A3-8D1F-0A4F-E3CE4212ED15}"/>
              </a:ext>
            </a:extLst>
          </p:cNvPr>
          <p:cNvSpPr txBox="1"/>
          <p:nvPr/>
        </p:nvSpPr>
        <p:spPr>
          <a:xfrm>
            <a:off x="6564244" y="6389850"/>
            <a:ext cx="589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Attitude velocity prediction under the </a:t>
            </a:r>
            <a:r>
              <a:rPr lang="en-IN" sz="1600" b="1" dirty="0" err="1">
                <a:solidFill>
                  <a:schemeClr val="accent2"/>
                </a:solidFill>
              </a:rPr>
              <a:t>koopman</a:t>
            </a:r>
            <a:r>
              <a:rPr lang="en-IN" sz="1600" b="1" dirty="0">
                <a:solidFill>
                  <a:schemeClr val="accent2"/>
                </a:solidFill>
              </a:rPr>
              <a:t>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C7C54-31EE-0E1C-EE34-7EA0DBF71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3" y="1999271"/>
            <a:ext cx="5015461" cy="4388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B7A60B-857A-A7A2-F124-80B93FAD3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26" y="1884505"/>
            <a:ext cx="5277782" cy="461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61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84F56-231A-033C-68CA-D87C235BDE9C}"/>
              </a:ext>
            </a:extLst>
          </p:cNvPr>
          <p:cNvSpPr txBox="1"/>
          <p:nvPr/>
        </p:nvSpPr>
        <p:spPr>
          <a:xfrm>
            <a:off x="259772" y="6206950"/>
            <a:ext cx="9466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Attitude prediction under PID controller and Koopman LQR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05F98-7F64-EBDA-0BC1-B0DF188D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31" y="651050"/>
            <a:ext cx="6035497" cy="52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9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14992-4E7F-9E18-089A-AB3E43F6891D}"/>
              </a:ext>
            </a:extLst>
          </p:cNvPr>
          <p:cNvSpPr txBox="1"/>
          <p:nvPr/>
        </p:nvSpPr>
        <p:spPr>
          <a:xfrm rot="20953643">
            <a:off x="2644878" y="1995949"/>
            <a:ext cx="754134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tx2"/>
                </a:solidFill>
                <a:latin typeface="Freestyle Script" panose="030804020302050B0404" pitchFamily="66" charset="0"/>
              </a:rPr>
              <a:t>Thank you</a:t>
            </a:r>
            <a:endParaRPr lang="en-IN" sz="16600" dirty="0">
              <a:solidFill>
                <a:schemeClr val="tx2"/>
              </a:solidFill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935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440</TotalTime>
  <Words>283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Century Gothic</vt:lpstr>
      <vt:lpstr>Copperplate Gothic Light</vt:lpstr>
      <vt:lpstr>Freestyle Script</vt:lpstr>
      <vt:lpstr>Gill Sans MT</vt:lpstr>
      <vt:lpstr>Wingdings</vt:lpstr>
      <vt:lpstr>Wingdings 2</vt:lpstr>
      <vt:lpstr>Dividend</vt:lpstr>
      <vt:lpstr>Data-Driven Attitude Modeling and Control of Quadrotor UAV’s using Koopman Operator</vt:lpstr>
      <vt:lpstr>PROBLem statement</vt:lpstr>
      <vt:lpstr>Objectives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AREPALLY CHARAN KUMAR REDDY</dc:creator>
  <cp:lastModifiedBy>AREPALLY CHARAN KUMAR REDDY</cp:lastModifiedBy>
  <cp:revision>2</cp:revision>
  <dcterms:created xsi:type="dcterms:W3CDTF">2026-08-18T11:46:30Z</dcterms:created>
  <dcterms:modified xsi:type="dcterms:W3CDTF">2026-08-30T13:28:36Z</dcterms:modified>
</cp:coreProperties>
</file>